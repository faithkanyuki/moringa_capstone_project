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84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2" r:id="rId16"/>
    <p:sldId id="273" r:id="rId17"/>
    <p:sldId id="285" r:id="rId18"/>
    <p:sldId id="274" r:id="rId19"/>
    <p:sldId id="275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51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14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773BB-0274-402C-8CFD-76A47228AF67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7741D-1ADE-4EF9-8A7D-F3E36F3A7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2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F7741D-1ADE-4EF9-8A7D-F3E36F3A745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1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-21021"/>
            <a:ext cx="16256000" cy="9144000"/>
          </a:xfrm>
          <a:prstGeom prst="roundRect">
            <a:avLst>
              <a:gd name="adj" fmla="val 2638"/>
            </a:avLst>
          </a:prstGeom>
        </p:spPr>
      </p:pic>
      <p:sp>
        <p:nvSpPr>
          <p:cNvPr id="5" name="AutoShape 5"/>
          <p:cNvSpPr/>
          <p:nvPr/>
        </p:nvSpPr>
        <p:spPr>
          <a:xfrm>
            <a:off x="3098800" y="4710896"/>
            <a:ext cx="9499600" cy="7696200"/>
          </a:xfrm>
          <a:prstGeom prst="roundRect">
            <a:avLst>
              <a:gd name="adj" fmla="val 2638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47042" y="-1778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 dirty="0">
                <a:latin typeface="Agbalumo"/>
              </a:rPr>
              <a:t>PREDICTING DIABETES HOSPITAL READMISSIONS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1270000" y="585004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A Machine Learning Approach to Improve Patient Care and Resource Allocation in Kenyan Healthcare System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603250" y="8289000"/>
            <a:ext cx="144907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2400" b="1" dirty="0">
                <a:solidFill>
                  <a:srgbClr val="000000"/>
                </a:solidFill>
                <a:latin typeface="Poppins"/>
              </a:rPr>
              <a:t>Capstone Project Defense </a:t>
            </a:r>
            <a:endParaRPr lang="en-US" sz="1100" dirty="0"/>
          </a:p>
        </p:txBody>
      </p:sp>
      <p:sp>
        <p:nvSpPr>
          <p:cNvPr id="9" name="TextBox 9"/>
          <p:cNvSpPr txBox="1"/>
          <p:nvPr/>
        </p:nvSpPr>
        <p:spPr>
          <a:xfrm>
            <a:off x="882650" y="8523950"/>
            <a:ext cx="14490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E7F5CAF4-6D83-257C-8047-8FFB6C87E4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447599" y="5867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701800"/>
            <a:ext cx="9283700" cy="692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083300" y="1701800"/>
            <a:ext cx="2921000" cy="2197100"/>
          </a:xfrm>
          <a:prstGeom prst="roundRect">
            <a:avLst>
              <a:gd name="adj" fmla="val 4624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264400" y="18923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258300" y="1701800"/>
            <a:ext cx="2921000" cy="2197100"/>
          </a:xfrm>
          <a:prstGeom prst="roundRect">
            <a:avLst>
              <a:gd name="adj" fmla="val 4624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439400" y="18923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2433300" y="1701800"/>
            <a:ext cx="2921000" cy="2197100"/>
          </a:xfrm>
          <a:prstGeom prst="roundRect">
            <a:avLst>
              <a:gd name="adj" fmla="val 4624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3627100" y="18923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083300" y="4089400"/>
            <a:ext cx="2921000" cy="2476500"/>
          </a:xfrm>
          <a:prstGeom prst="roundRect">
            <a:avLst>
              <a:gd name="adj" fmla="val 410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7264400" y="42799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9258300" y="4089400"/>
            <a:ext cx="2921000" cy="2476500"/>
          </a:xfrm>
          <a:prstGeom prst="roundRect">
            <a:avLst>
              <a:gd name="adj" fmla="val 410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0439400" y="42799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2433300" y="4089400"/>
            <a:ext cx="2921000" cy="2476500"/>
          </a:xfrm>
          <a:prstGeom prst="roundRect">
            <a:avLst>
              <a:gd name="adj" fmla="val 410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3627100" y="42799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6003885" y="6756400"/>
            <a:ext cx="9283700" cy="1866900"/>
          </a:xfrm>
          <a:prstGeom prst="roundRect">
            <a:avLst>
              <a:gd name="adj" fmla="val 544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0439400" y="69469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083300" y="5080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8493C"/>
                </a:solidFill>
                <a:latin typeface="Agbalumo"/>
              </a:rPr>
              <a:t>Our Team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083300" y="1155700"/>
            <a:ext cx="9283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Group 4  Capstone Project Team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6337300" y="2641600"/>
            <a:ext cx="24003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Faith Kanyuki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9525000" y="2641600"/>
            <a:ext cx="24003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Godfrey Osundwa</a:t>
            </a:r>
            <a:endParaRPr lang="en-US" sz="1100" dirty="0"/>
          </a:p>
        </p:txBody>
      </p:sp>
      <p:sp>
        <p:nvSpPr>
          <p:cNvPr id="24" name="TextBox 24"/>
          <p:cNvSpPr txBox="1"/>
          <p:nvPr/>
        </p:nvSpPr>
        <p:spPr>
          <a:xfrm>
            <a:off x="12700000" y="2641600"/>
            <a:ext cx="24003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Diana Aloo</a:t>
            </a:r>
            <a:endParaRPr lang="en-US" sz="1100" dirty="0"/>
          </a:p>
        </p:txBody>
      </p:sp>
      <p:sp>
        <p:nvSpPr>
          <p:cNvPr id="25" name="TextBox 25"/>
          <p:cNvSpPr txBox="1"/>
          <p:nvPr/>
        </p:nvSpPr>
        <p:spPr>
          <a:xfrm>
            <a:off x="6337300" y="5029200"/>
            <a:ext cx="24003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Cindy Akinyi</a:t>
            </a:r>
            <a:endParaRPr lang="en-US" sz="1100" dirty="0"/>
          </a:p>
        </p:txBody>
      </p:sp>
      <p:sp>
        <p:nvSpPr>
          <p:cNvPr id="26" name="TextBox 26"/>
          <p:cNvSpPr txBox="1"/>
          <p:nvPr/>
        </p:nvSpPr>
        <p:spPr>
          <a:xfrm>
            <a:off x="9525000" y="5029200"/>
            <a:ext cx="24003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Ednah Ogoti</a:t>
            </a:r>
            <a:endParaRPr lang="en-US" sz="1100" dirty="0"/>
          </a:p>
        </p:txBody>
      </p:sp>
      <p:sp>
        <p:nvSpPr>
          <p:cNvPr id="27" name="TextBox 27"/>
          <p:cNvSpPr txBox="1"/>
          <p:nvPr/>
        </p:nvSpPr>
        <p:spPr>
          <a:xfrm>
            <a:off x="12700000" y="5029200"/>
            <a:ext cx="24003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Mitchelle Mkan</a:t>
            </a:r>
            <a:endParaRPr lang="en-US" sz="1100" dirty="0"/>
          </a:p>
        </p:txBody>
      </p:sp>
      <p:sp>
        <p:nvSpPr>
          <p:cNvPr id="28" name="TextBox 28"/>
          <p:cNvSpPr txBox="1"/>
          <p:nvPr/>
        </p:nvSpPr>
        <p:spPr>
          <a:xfrm>
            <a:off x="9055100" y="7696200"/>
            <a:ext cx="33274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100" b="1" dirty="0">
                <a:solidFill>
                  <a:srgbClr val="08493C"/>
                </a:solidFill>
                <a:latin typeface="Agbalumo"/>
              </a:rPr>
              <a:t>Elsie Wairimu </a:t>
            </a:r>
            <a:endParaRPr lang="en-US" sz="1100" dirty="0"/>
          </a:p>
        </p:txBody>
      </p:sp>
      <p:sp>
        <p:nvSpPr>
          <p:cNvPr id="29" name="TextBox 29"/>
          <p:cNvSpPr txBox="1"/>
          <p:nvPr/>
        </p:nvSpPr>
        <p:spPr>
          <a:xfrm>
            <a:off x="6337300" y="34290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Scrum master</a:t>
            </a:r>
            <a:endParaRPr lang="en-US" sz="1100" dirty="0"/>
          </a:p>
        </p:txBody>
      </p:sp>
      <p:sp>
        <p:nvSpPr>
          <p:cNvPr id="30" name="TextBox 30"/>
          <p:cNvSpPr txBox="1"/>
          <p:nvPr/>
        </p:nvSpPr>
        <p:spPr>
          <a:xfrm>
            <a:off x="9525000" y="34290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Data Analyst</a:t>
            </a:r>
            <a:endParaRPr lang="en-US" sz="1100" dirty="0"/>
          </a:p>
        </p:txBody>
      </p:sp>
      <p:sp>
        <p:nvSpPr>
          <p:cNvPr id="31" name="TextBox 31"/>
          <p:cNvSpPr txBox="1"/>
          <p:nvPr/>
        </p:nvSpPr>
        <p:spPr>
          <a:xfrm>
            <a:off x="12700000" y="34290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ML Engineer</a:t>
            </a:r>
            <a:endParaRPr lang="en-US" sz="1100" dirty="0"/>
          </a:p>
        </p:txBody>
      </p:sp>
      <p:sp>
        <p:nvSpPr>
          <p:cNvPr id="32" name="TextBox 32"/>
          <p:cNvSpPr txBox="1"/>
          <p:nvPr/>
        </p:nvSpPr>
        <p:spPr>
          <a:xfrm>
            <a:off x="6337300" y="5816600"/>
            <a:ext cx="24003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Data Engineer</a:t>
            </a:r>
            <a:endParaRPr lang="en-US" sz="1100" dirty="0"/>
          </a:p>
        </p:txBody>
      </p:sp>
      <p:sp>
        <p:nvSpPr>
          <p:cNvPr id="33" name="TextBox 33"/>
          <p:cNvSpPr txBox="1"/>
          <p:nvPr/>
        </p:nvSpPr>
        <p:spPr>
          <a:xfrm>
            <a:off x="9525000" y="5816600"/>
            <a:ext cx="24003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Visualization Specialist</a:t>
            </a:r>
            <a:endParaRPr lang="en-US" sz="1100" dirty="0"/>
          </a:p>
        </p:txBody>
      </p:sp>
      <p:sp>
        <p:nvSpPr>
          <p:cNvPr id="34" name="TextBox 34"/>
          <p:cNvSpPr txBox="1"/>
          <p:nvPr/>
        </p:nvSpPr>
        <p:spPr>
          <a:xfrm>
            <a:off x="12700000" y="5816600"/>
            <a:ext cx="24003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Research Analyst</a:t>
            </a:r>
            <a:endParaRPr lang="en-US" sz="1100" dirty="0"/>
          </a:p>
        </p:txBody>
      </p:sp>
      <p:sp>
        <p:nvSpPr>
          <p:cNvPr id="35" name="TextBox 35"/>
          <p:cNvSpPr txBox="1"/>
          <p:nvPr/>
        </p:nvSpPr>
        <p:spPr>
          <a:xfrm>
            <a:off x="9055100" y="8153400"/>
            <a:ext cx="3327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Role: Documentation Lead</a:t>
            </a:r>
            <a:endParaRPr lang="en-US" sz="1100" dirty="0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7429500" y="2082800"/>
            <a:ext cx="215900" cy="177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0617200" y="2082800"/>
            <a:ext cx="215900" cy="177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3792200" y="2082800"/>
            <a:ext cx="215900" cy="177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7429500" y="4470400"/>
            <a:ext cx="215900" cy="177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0617200" y="4470400"/>
            <a:ext cx="215900" cy="177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3792200" y="4470400"/>
            <a:ext cx="215900" cy="177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0617200" y="7137400"/>
            <a:ext cx="215900" cy="177800"/>
          </a:xfrm>
          <a:prstGeom prst="rect">
            <a:avLst/>
          </a:prstGeom>
        </p:spPr>
      </p:pic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105DD4F3-8D17-96C6-B668-2497B6D34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35" y="104775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4000" b="3400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2638"/>
            </a:avLst>
          </a:prstGeom>
        </p:spPr>
      </p:pic>
      <p:sp>
        <p:nvSpPr>
          <p:cNvPr id="5" name="AutoShape 5"/>
          <p:cNvSpPr/>
          <p:nvPr/>
        </p:nvSpPr>
        <p:spPr>
          <a:xfrm>
            <a:off x="17041" y="107950"/>
            <a:ext cx="16256000" cy="9144000"/>
          </a:xfrm>
          <a:prstGeom prst="roundRect">
            <a:avLst>
              <a:gd name="adj" fmla="val 2638"/>
            </a:avLst>
          </a:prstGeom>
          <a:solidFill>
            <a:srgbClr val="73B4A2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949311" y="1231900"/>
            <a:ext cx="8445500" cy="665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934200" y="1231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934200" y="3009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6934200" y="4787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934200" y="6565900"/>
            <a:ext cx="84455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900092" y="3810000"/>
            <a:ext cx="54229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4800" b="1" dirty="0">
                <a:latin typeface="Agbalumo"/>
              </a:rPr>
              <a:t>Presentation Outline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6934200" y="1231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latin typeface="Agbalumo"/>
              </a:rPr>
              <a:t>01. Context &amp; Problem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6934200" y="3009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latin typeface="Agbalumo"/>
              </a:rPr>
              <a:t>02. Data Overview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6876902" y="47498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latin typeface="Agbalumo"/>
              </a:rPr>
              <a:t>03. Analysis &amp; Insights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6934200" y="6565900"/>
            <a:ext cx="84455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latin typeface="Agbalumo"/>
              </a:rPr>
              <a:t>04. Model &amp; Impact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6934200" y="18415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00000"/>
                </a:solidFill>
                <a:latin typeface="Poppins"/>
              </a:rPr>
              <a:t>Understanding diabetes burden in Kenya and the challenge of hospital readmissions affecting patient outcomes</a:t>
            </a:r>
            <a:r>
              <a:rPr lang="en-US" sz="1900" dirty="0">
                <a:solidFill>
                  <a:srgbClr val="000000"/>
                </a:solidFill>
                <a:latin typeface="Poppins"/>
              </a:rPr>
              <a:t>.</a:t>
            </a:r>
            <a:endParaRPr lang="en-US" sz="1100" dirty="0"/>
          </a:p>
        </p:txBody>
      </p:sp>
      <p:sp>
        <p:nvSpPr>
          <p:cNvPr id="17" name="TextBox 17"/>
          <p:cNvSpPr txBox="1"/>
          <p:nvPr/>
        </p:nvSpPr>
        <p:spPr>
          <a:xfrm>
            <a:off x="6934200" y="36195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Exploring the dataset from hospital records including patient demographics and clinical information.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934200" y="53975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Key findings from data exploration showing patterns in readmission rates and risk factors.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934200" y="7162800"/>
            <a:ext cx="84455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How machine learning predicts readmission risk and enables targeted interventions for better care.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2133600"/>
            <a:ext cx="9283700" cy="548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2133600"/>
            <a:ext cx="2921000" cy="3492500"/>
          </a:xfrm>
          <a:prstGeom prst="roundRect">
            <a:avLst>
              <a:gd name="adj" fmla="val 4347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168400" y="2374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051300" y="2133600"/>
            <a:ext cx="2921000" cy="3492500"/>
          </a:xfrm>
          <a:prstGeom prst="roundRect">
            <a:avLst>
              <a:gd name="adj" fmla="val 4347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343400" y="2374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239000" y="2133600"/>
            <a:ext cx="2921000" cy="3492500"/>
          </a:xfrm>
          <a:prstGeom prst="roundRect">
            <a:avLst>
              <a:gd name="adj" fmla="val 4347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7531100" y="2374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5867400"/>
            <a:ext cx="9283700" cy="1752600"/>
          </a:xfrm>
          <a:prstGeom prst="roundRect">
            <a:avLst>
              <a:gd name="adj" fmla="val 7246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68400" y="61087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76300" y="7886700"/>
            <a:ext cx="12700" cy="342900"/>
          </a:xfrm>
          <a:prstGeom prst="rect">
            <a:avLst/>
          </a:prstGeom>
          <a:solidFill>
            <a:srgbClr val="126149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76300" y="635000"/>
            <a:ext cx="9283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600" b="1" dirty="0">
                <a:solidFill>
                  <a:srgbClr val="08493C"/>
                </a:solidFill>
                <a:latin typeface="Agbalumo"/>
              </a:rPr>
              <a:t>The Healthcare Challenge in Kenya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876300" y="14478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8493C"/>
                </a:solidFill>
                <a:latin typeface="Agbalumo"/>
              </a:rPr>
              <a:t>Rising Diabetes Prevalence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43000" y="3302000"/>
            <a:ext cx="2400300" cy="208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Kenya faces increasing diabetes cases - over 500,000 diagnosed patients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318000" y="3302000"/>
            <a:ext cx="24003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Hospital readmissions place strain on limited healthcare resources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493000" y="3302000"/>
            <a:ext cx="24003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Repeated admissions lead to poor patient outcomes and increased costs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43000" y="7035800"/>
            <a:ext cx="80645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Need for data-driven approach to identify at-risk patients early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7886700"/>
            <a:ext cx="9029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000000"/>
                </a:solidFill>
                <a:latin typeface="Poppins"/>
              </a:rPr>
              <a:t>14-20% of diabetes patients are readmitted within 30 days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t="3000" b="3000"/>
          <a:stretch>
            <a:fillRect/>
          </a:stretch>
        </p:blipFill>
        <p:spPr>
          <a:xfrm>
            <a:off x="1384300" y="2603500"/>
            <a:ext cx="241300" cy="228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 t="13000" b="13000"/>
          <a:stretch>
            <a:fillRect/>
          </a:stretch>
        </p:blipFill>
        <p:spPr>
          <a:xfrm>
            <a:off x="4533900" y="2603500"/>
            <a:ext cx="304800" cy="228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t="3000" b="3000"/>
          <a:stretch>
            <a:fillRect/>
          </a:stretch>
        </p:blipFill>
        <p:spPr>
          <a:xfrm>
            <a:off x="7747000" y="2603500"/>
            <a:ext cx="241300" cy="228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 l="3000" r="3000"/>
          <a:stretch>
            <a:fillRect/>
          </a:stretch>
        </p:blipFill>
        <p:spPr>
          <a:xfrm>
            <a:off x="1409700" y="6337300"/>
            <a:ext cx="215900" cy="228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61E248-7B3C-3324-340E-4947F00F0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9700" y="113481"/>
            <a:ext cx="62484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2146300"/>
            <a:ext cx="9283700" cy="571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083300" y="2146300"/>
            <a:ext cx="2921000" cy="5715000"/>
          </a:xfrm>
          <a:prstGeom prst="roundRect">
            <a:avLst>
              <a:gd name="adj" fmla="val 478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337300" y="2413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258300" y="2146300"/>
            <a:ext cx="2921000" cy="5715000"/>
          </a:xfrm>
          <a:prstGeom prst="roundRect">
            <a:avLst>
              <a:gd name="adj" fmla="val 478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9525000" y="2413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2433300" y="2146300"/>
            <a:ext cx="2921000" cy="5715000"/>
          </a:xfrm>
          <a:prstGeom prst="roundRect">
            <a:avLst>
              <a:gd name="adj" fmla="val 4782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2700000" y="2413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083300" y="1270000"/>
            <a:ext cx="9283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08493C"/>
                </a:solidFill>
                <a:latin typeface="Agbalumo"/>
              </a:rPr>
              <a:t>Why Readmissions Matter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337300" y="3416300"/>
            <a:ext cx="24003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8493C"/>
                </a:solidFill>
                <a:latin typeface="Agbalumo"/>
              </a:rPr>
              <a:t>Patient Impact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9525000" y="3416300"/>
            <a:ext cx="24003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8493C"/>
                </a:solidFill>
                <a:latin typeface="Agbalumo"/>
              </a:rPr>
              <a:t>Healthcare System Burden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2700000" y="3416300"/>
            <a:ext cx="24003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08493C"/>
                </a:solidFill>
                <a:latin typeface="Agbalumo"/>
              </a:rPr>
              <a:t>Economic Costs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337300" y="4508500"/>
            <a:ext cx="24003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Repeated hospitalizations disrupt lives, reduce quality of life, and indicate inadequate disease management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525000" y="4965700"/>
            <a:ext cx="24003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Each readmission costs significantly and occupies beds needed for new patients, straining limited resources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2700000" y="4508500"/>
            <a:ext cx="24003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00000"/>
                </a:solidFill>
                <a:latin typeface="Poppins"/>
              </a:rPr>
              <a:t>Preventable readmissions waste resources that could be used for preventive care and early intervention programs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6604000" y="2667000"/>
            <a:ext cx="2159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 t="7000" b="7000"/>
          <a:stretch>
            <a:fillRect/>
          </a:stretch>
        </p:blipFill>
        <p:spPr>
          <a:xfrm>
            <a:off x="9753600" y="2667000"/>
            <a:ext cx="279400" cy="241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954000" y="2667000"/>
            <a:ext cx="241300" cy="241300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ABEDB733-5795-B9CF-2A43-4992C1DA45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00" b="1000"/>
          <a:stretch>
            <a:fillRect/>
          </a:stretch>
        </p:blipFill>
        <p:spPr>
          <a:xfrm>
            <a:off x="469257" y="34724"/>
            <a:ext cx="51943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789242A-2B9B-8D48-00F0-F6FD3E1F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288197"/>
            <a:ext cx="12649200" cy="762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15B77B-C8DE-836B-84C8-63681B571250}"/>
              </a:ext>
            </a:extLst>
          </p:cNvPr>
          <p:cNvSpPr txBox="1"/>
          <p:nvPr/>
        </p:nvSpPr>
        <p:spPr>
          <a:xfrm>
            <a:off x="2260600" y="228600"/>
            <a:ext cx="11811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This heatmap shows the top 15 diagnosis categories and their hospital readmission rates, based on whether the diagnosis was the primary, secondary, or tertiary reason for admission.</a:t>
            </a:r>
            <a:endParaRPr lang="en-KE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96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409700"/>
            <a:ext cx="9283700" cy="204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409700"/>
            <a:ext cx="9283700" cy="2044700"/>
          </a:xfrm>
          <a:prstGeom prst="roundRect">
            <a:avLst>
              <a:gd name="adj" fmla="val 5590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3606800"/>
            <a:ext cx="9283700" cy="490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876300" y="3606800"/>
            <a:ext cx="2921000" cy="4902200"/>
          </a:xfrm>
          <a:prstGeom prst="roundRect">
            <a:avLst>
              <a:gd name="adj" fmla="val 3913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006600" y="38481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4051300" y="3606800"/>
            <a:ext cx="2921000" cy="4902200"/>
          </a:xfrm>
          <a:prstGeom prst="roundRect">
            <a:avLst>
              <a:gd name="adj" fmla="val 3913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5181600" y="38481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7239000" y="3606800"/>
            <a:ext cx="2921000" cy="4902200"/>
          </a:xfrm>
          <a:prstGeom prst="roundRect">
            <a:avLst>
              <a:gd name="adj" fmla="val 3913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369300" y="38481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76300" y="609600"/>
            <a:ext cx="9283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00" b="1">
                <a:solidFill>
                  <a:srgbClr val="08493C"/>
                </a:solidFill>
                <a:latin typeface="Agbalumo"/>
              </a:rPr>
              <a:t>Project Objectives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1638300"/>
            <a:ext cx="87630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08493C"/>
                </a:solidFill>
                <a:latin typeface="Agbalumo"/>
              </a:rPr>
              <a:t>Our Mission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43000" y="47498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Identify Risk Factors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318000" y="47498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Build Predictive Model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493000" y="47498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Enable Better Care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2209800"/>
            <a:ext cx="8763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Develop a data-driven solution to predict diabetes readmission risk, enabling healthcare providers to implement targeted interventions and improve patient outcomes while optimizing hospital resources.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43000" y="5575300"/>
            <a:ext cx="24003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Analyze patient data to determine key predictors of 30-day readmission among diabetes patients.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318000" y="5575300"/>
            <a:ext cx="2400300" cy="201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Develop accurate machine learning model that flags high-risk patients before discharge for intervention.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7493000" y="5575300"/>
            <a:ext cx="2400300" cy="269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Provide actionable insights for clinicians to personalize treatment plans and reduce preventable readmissions.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t="6000" b="6000"/>
          <a:stretch>
            <a:fillRect/>
          </a:stretch>
        </p:blipFill>
        <p:spPr>
          <a:xfrm>
            <a:off x="2209800" y="4076700"/>
            <a:ext cx="2413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 t="15000" b="15000"/>
          <a:stretch>
            <a:fillRect/>
          </a:stretch>
        </p:blipFill>
        <p:spPr>
          <a:xfrm>
            <a:off x="5359400" y="4076700"/>
            <a:ext cx="304800" cy="215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8572500" y="4076700"/>
            <a:ext cx="241300" cy="215900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2FC218C1-5DFC-03B3-DF65-CAE39960FB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00" r="1000"/>
          <a:stretch>
            <a:fillRect/>
          </a:stretch>
        </p:blipFill>
        <p:spPr>
          <a:xfrm>
            <a:off x="10753778" y="907327"/>
            <a:ext cx="4625922" cy="81434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1816100"/>
            <a:ext cx="9283700" cy="623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816100"/>
            <a:ext cx="2921000" cy="6235700"/>
          </a:xfrm>
          <a:prstGeom prst="roundRect">
            <a:avLst>
              <a:gd name="adj" fmla="val 3478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051300" y="1816100"/>
            <a:ext cx="2921000" cy="6235700"/>
          </a:xfrm>
          <a:prstGeom prst="roundRect">
            <a:avLst>
              <a:gd name="adj" fmla="val 3478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7239000" y="1816100"/>
            <a:ext cx="2921000" cy="6235700"/>
          </a:xfrm>
          <a:prstGeom prst="roundRect">
            <a:avLst>
              <a:gd name="adj" fmla="val 3478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876300" y="546100"/>
            <a:ext cx="92837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>
                <a:solidFill>
                  <a:srgbClr val="08493C"/>
                </a:solidFill>
                <a:latin typeface="Agbalumo"/>
              </a:rPr>
              <a:t>Data Overview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1244600"/>
            <a:ext cx="92837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08493C"/>
                </a:solidFill>
                <a:latin typeface="Agbalumo"/>
              </a:rPr>
              <a:t>Hospital Electronic Health Records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143000" y="2032000"/>
            <a:ext cx="2400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8493C"/>
                </a:solidFill>
                <a:latin typeface="Agbalumo"/>
              </a:rPr>
              <a:t>Data Source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318000" y="2032000"/>
            <a:ext cx="2400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8493C"/>
                </a:solidFill>
                <a:latin typeface="Agbalumo"/>
              </a:rPr>
              <a:t>Dataset Size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493000" y="2032000"/>
            <a:ext cx="24003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08493C"/>
                </a:solidFill>
                <a:latin typeface="Agbalumo"/>
              </a:rPr>
              <a:t>Key Features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43000" y="2463800"/>
            <a:ext cx="2400300" cy="177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Hospital electronic health records from diabetes patient admissions over 10-year period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318000" y="2463800"/>
            <a:ext cx="24003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100,000+ patient encounters across 130 hospitals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7747000" y="2476500"/>
            <a:ext cx="21463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Demographics: Age, gender, race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747000" y="3517900"/>
            <a:ext cx="21463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Clinical: Lab tests, diagnoses, procedures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747000" y="4572000"/>
            <a:ext cx="21463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Treatment: Medications, insulin usage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7747000" y="5626100"/>
            <a:ext cx="2146300" cy="118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History: Previous admissions, emergency visits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7747000" y="6972300"/>
            <a:ext cx="2146300" cy="889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Outcomes: Length of stay, discharge status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76300" y="8293100"/>
            <a:ext cx="9283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i="1">
                <a:solidFill>
                  <a:srgbClr val="000000"/>
                </a:solidFill>
                <a:latin typeface="Poppins"/>
              </a:rPr>
              <a:t>All data anonymized to protect patient confidentiality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7378700" y="25273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7378700" y="35687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378700" y="46228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7378700" y="56769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7378700" y="7023100"/>
            <a:ext cx="2413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3200400"/>
            <a:ext cx="5321300" cy="3200400"/>
          </a:xfrm>
          <a:prstGeom prst="roundRect">
            <a:avLst>
              <a:gd name="adj" fmla="val 3174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546100"/>
            <a:ext cx="9283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100" b="1">
                <a:solidFill>
                  <a:srgbClr val="08493C"/>
                </a:solidFill>
                <a:latin typeface="Agbalumo"/>
              </a:rPr>
              <a:t>Readmission by Age Groups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3004800" y="368300"/>
            <a:ext cx="33401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 dirty="0">
                <a:solidFill>
                  <a:srgbClr val="08493C"/>
                </a:solidFill>
                <a:latin typeface="Agbalumo"/>
              </a:rPr>
              <a:t>Key Insights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12166600" y="1028700"/>
            <a:ext cx="33401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Poppins"/>
              </a:rPr>
              <a:t>Older patients show significantly higher readmission rates. Those aged 70+ have double the risk compared to younger patients, highlighting the need for age-specific discharge planning and follow-up care.</a:t>
            </a:r>
            <a:endParaRPr lang="en-US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293600" y="4356100"/>
            <a:ext cx="30861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dirty="0">
                <a:solidFill>
                  <a:srgbClr val="000000"/>
                </a:solidFill>
                <a:latin typeface="Poppins"/>
              </a:rPr>
              <a:t>Age is a critical risk factor for readmission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12328003" y="5321943"/>
            <a:ext cx="30861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dirty="0">
                <a:solidFill>
                  <a:srgbClr val="000000"/>
                </a:solidFill>
                <a:latin typeface="Poppins"/>
              </a:rPr>
              <a:t>Elderly patients need enhanced post-discharge support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12389413" y="6483350"/>
            <a:ext cx="30861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 dirty="0">
                <a:solidFill>
                  <a:srgbClr val="000000"/>
                </a:solidFill>
                <a:latin typeface="Poppins"/>
              </a:rPr>
              <a:t>Resource allocation should prioritize older demographics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 flipH="1">
            <a:off x="6946900" y="3581400"/>
            <a:ext cx="10020300" cy="203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 flipH="1">
            <a:off x="6946900" y="4610100"/>
            <a:ext cx="10020300" cy="176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 dirty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 flipH="1">
            <a:off x="6946900" y="6172200"/>
            <a:ext cx="104013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500" b="0" dirty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 dirty="0"/>
          </a:p>
        </p:txBody>
      </p:sp>
      <p:pic>
        <p:nvPicPr>
          <p:cNvPr id="15" name="Picture 14" descr="plot_1.png">
            <a:extLst>
              <a:ext uri="{FF2B5EF4-FFF2-40B4-BE49-F238E27FC236}">
                <a16:creationId xmlns:a16="http://schemas.microsoft.com/office/drawing/2014/main" id="{3345FD8B-4355-95D8-CFC0-27A51F3D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19" y="1201163"/>
            <a:ext cx="10507986" cy="75618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0"/>
            <a:ext cx="5194300" cy="9144000"/>
          </a:xfrm>
          <a:prstGeom prst="roundRect">
            <a:avLst>
              <a:gd name="adj" fmla="val 3178"/>
            </a:avLst>
          </a:prstGeom>
        </p:spPr>
      </p:pic>
      <p:sp>
        <p:nvSpPr>
          <p:cNvPr id="5" name="AutoShape 5"/>
          <p:cNvSpPr/>
          <p:nvPr/>
        </p:nvSpPr>
        <p:spPr>
          <a:xfrm>
            <a:off x="6083300" y="6502400"/>
            <a:ext cx="12700" cy="1549400"/>
          </a:xfrm>
          <a:prstGeom prst="rect">
            <a:avLst/>
          </a:prstGeom>
          <a:solidFill>
            <a:srgbClr val="126149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058400" y="3403600"/>
            <a:ext cx="5321300" cy="2743200"/>
          </a:xfrm>
          <a:prstGeom prst="roundRect">
            <a:avLst>
              <a:gd name="adj" fmla="val 3240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83300" y="4699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8493C"/>
                </a:solidFill>
                <a:latin typeface="Agbalumo"/>
              </a:rPr>
              <a:t>Impact of Comorbidities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083300" y="1295400"/>
            <a:ext cx="33401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Multiple Conditions Increase Risk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096000" y="2381250"/>
            <a:ext cx="2654300" cy="391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00"/>
                </a:solidFill>
                <a:latin typeface="Poppins"/>
              </a:rPr>
              <a:t>Patients with additional chronic conditions beyond diabetes face substantially higher readmission rates. Hypertension and heart disease are the most common comorbidities, present in over 60% of readmitted patients. This emphasizes the importance of comprehensive care that addresses all conditions simultaneously.</a:t>
            </a:r>
            <a:endParaRPr lang="en-US" sz="1400" dirty="0"/>
          </a:p>
        </p:txBody>
      </p:sp>
      <p:sp>
        <p:nvSpPr>
          <p:cNvPr id="10" name="TextBox 10"/>
          <p:cNvSpPr txBox="1"/>
          <p:nvPr/>
        </p:nvSpPr>
        <p:spPr>
          <a:xfrm>
            <a:off x="6874753" y="7220411"/>
            <a:ext cx="3086100" cy="154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Patients with 3+ comorbidities have a 40% readmission rate compared to 15% for those with diabetes alone.</a:t>
            </a:r>
            <a:endParaRPr lang="en-US" sz="16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311A697A-51A7-0ACC-4F7C-B59D763EA1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026" y="2442901"/>
            <a:ext cx="6907547" cy="49323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5194300" cy="9144000"/>
          </a:xfrm>
          <a:prstGeom prst="roundRect">
            <a:avLst>
              <a:gd name="adj" fmla="val 3178"/>
            </a:avLst>
          </a:prstGeom>
        </p:spPr>
      </p:pic>
      <p:sp>
        <p:nvSpPr>
          <p:cNvPr id="5" name="AutoShape 5"/>
          <p:cNvSpPr/>
          <p:nvPr/>
        </p:nvSpPr>
        <p:spPr>
          <a:xfrm>
            <a:off x="6083300" y="6210300"/>
            <a:ext cx="3340100" cy="2032000"/>
          </a:xfrm>
          <a:prstGeom prst="roundRect">
            <a:avLst>
              <a:gd name="adj" fmla="val 25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083300" y="6210300"/>
            <a:ext cx="3340100" cy="1600200"/>
          </a:xfrm>
          <a:prstGeom prst="roundRect">
            <a:avLst>
              <a:gd name="adj" fmla="val 3174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0058400" y="3390900"/>
            <a:ext cx="5321300" cy="2755900"/>
          </a:xfrm>
          <a:prstGeom prst="roundRect">
            <a:avLst>
              <a:gd name="adj" fmla="val 3225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083300" y="4699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8493C"/>
                </a:solidFill>
                <a:latin typeface="Agbalumo"/>
              </a:rPr>
              <a:t>Hospital Stay Length vs Readmission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6083300" y="1295400"/>
            <a:ext cx="3340100" cy="62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The Length of Stay Factor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083300" y="2120900"/>
            <a:ext cx="3340100" cy="389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Our analysis reveals an important finding: patients with very short hospital stays (1-2 days) have higher readmission rates. This suggests they may be discharged prematurely before stabilization. Conversely, stays beyond 7 days also show increased risk, indicating more severe cases requiring extended monitoring post-discharge.</a:t>
            </a:r>
            <a:endParaRPr lang="en-US" sz="1600" dirty="0"/>
          </a:p>
        </p:txBody>
      </p:sp>
      <p:sp>
        <p:nvSpPr>
          <p:cNvPr id="12" name="TextBox 12"/>
          <p:cNvSpPr txBox="1"/>
          <p:nvPr/>
        </p:nvSpPr>
        <p:spPr>
          <a:xfrm>
            <a:off x="11164057" y="7010400"/>
            <a:ext cx="3505200" cy="1003300"/>
          </a:xfrm>
          <a:prstGeom prst="roundRect">
            <a:avLst>
              <a:gd name="adj" fmla="val 6329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4800" b="1" dirty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5-6</a:t>
            </a:r>
            <a:endParaRPr lang="en-US" sz="4800" dirty="0"/>
          </a:p>
        </p:txBody>
      </p:sp>
      <p:sp>
        <p:nvSpPr>
          <p:cNvPr id="13" name="TextBox 13"/>
          <p:cNvSpPr txBox="1"/>
          <p:nvPr/>
        </p:nvSpPr>
        <p:spPr>
          <a:xfrm>
            <a:off x="11329157" y="7648510"/>
            <a:ext cx="33401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Optimal Stay Duration (days</a:t>
            </a:r>
            <a:r>
              <a:rPr lang="en-US" sz="1300" b="1" dirty="0">
                <a:solidFill>
                  <a:srgbClr val="000000"/>
                </a:solidFill>
                <a:latin typeface="Poppins"/>
              </a:rPr>
              <a:t>)</a:t>
            </a:r>
            <a:endParaRPr lang="en-US" sz="1100" dirty="0"/>
          </a:p>
        </p:txBody>
      </p:sp>
      <p:pic>
        <p:nvPicPr>
          <p:cNvPr id="14" name="Picture 13" descr="plot_2.png">
            <a:extLst>
              <a:ext uri="{FF2B5EF4-FFF2-40B4-BE49-F238E27FC236}">
                <a16:creationId xmlns:a16="http://schemas.microsoft.com/office/drawing/2014/main" id="{6818BB72-AAC6-5355-BA3C-7421041A4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3242" y="2799963"/>
            <a:ext cx="6365776" cy="43690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00" r="1000"/>
          <a:stretch>
            <a:fillRect/>
          </a:stretch>
        </p:blipFill>
        <p:spPr>
          <a:xfrm>
            <a:off x="0" y="0"/>
            <a:ext cx="5194300" cy="9144000"/>
          </a:xfrm>
          <a:prstGeom prst="roundRect">
            <a:avLst>
              <a:gd name="adj" fmla="val 3911"/>
            </a:avLst>
          </a:prstGeom>
        </p:spPr>
      </p:pic>
      <p:sp>
        <p:nvSpPr>
          <p:cNvPr id="5" name="AutoShape 5"/>
          <p:cNvSpPr/>
          <p:nvPr/>
        </p:nvSpPr>
        <p:spPr>
          <a:xfrm>
            <a:off x="6083300" y="1943100"/>
            <a:ext cx="9283700" cy="509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083300" y="1943100"/>
            <a:ext cx="928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197600" y="3213100"/>
            <a:ext cx="69850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83300" y="3225800"/>
            <a:ext cx="928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6197600" y="4495800"/>
            <a:ext cx="64262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083300" y="4495800"/>
            <a:ext cx="928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6197600" y="5765800"/>
            <a:ext cx="58674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083300" y="5765800"/>
            <a:ext cx="928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197600" y="7035800"/>
            <a:ext cx="53213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0" y="1943100"/>
            <a:ext cx="1714500" cy="1574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74700" y="1943100"/>
            <a:ext cx="1714500" cy="157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4700" y="1943100"/>
            <a:ext cx="1714500" cy="1574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74700" y="1943100"/>
            <a:ext cx="1714500" cy="1574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0" y="3225800"/>
            <a:ext cx="2184400" cy="1574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54000" y="3225800"/>
            <a:ext cx="2184400" cy="1574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54000" y="3225800"/>
            <a:ext cx="2184400" cy="1574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46000" y="4495800"/>
            <a:ext cx="2654300" cy="1574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46000" y="4495800"/>
            <a:ext cx="2654300" cy="1574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46000" y="4495800"/>
            <a:ext cx="2654300" cy="1574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38000" y="5765800"/>
            <a:ext cx="3111500" cy="1574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38000" y="5765800"/>
            <a:ext cx="3111500" cy="1574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38000" y="5765800"/>
            <a:ext cx="3111500" cy="1574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6083300" y="571500"/>
            <a:ext cx="9283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08493C"/>
                </a:solidFill>
                <a:latin typeface="Agbalumo"/>
              </a:rPr>
              <a:t>Medication Impact on Outcomes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6083300" y="1320800"/>
            <a:ext cx="9283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08493C"/>
                </a:solidFill>
                <a:latin typeface="Agbalumo"/>
              </a:rPr>
              <a:t>Treatment Complexity Matters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3804900" y="29972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1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6756400" y="2159000"/>
            <a:ext cx="63119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08493C"/>
                </a:solidFill>
                <a:latin typeface="Agbalumo"/>
              </a:rPr>
              <a:t>1-5 Medications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3233400" y="42672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2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807200" y="3429000"/>
            <a:ext cx="57023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08493C"/>
                </a:solidFill>
                <a:latin typeface="Agbalumo"/>
              </a:rPr>
              <a:t>6-10 Medications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2687300" y="55499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3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921500" y="4711700"/>
            <a:ext cx="50292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08493C"/>
                </a:solidFill>
                <a:latin typeface="Agbalumo"/>
              </a:rPr>
              <a:t>11-15 Medications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2128500" y="68199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4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6667500" y="5981700"/>
            <a:ext cx="47244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08493C"/>
                </a:solidFill>
                <a:latin typeface="Agbalumo"/>
              </a:rPr>
              <a:t>16+ Medications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6756400" y="2692400"/>
            <a:ext cx="6311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15% readmission rate - Simple treatment regimen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6807200" y="3962400"/>
            <a:ext cx="57023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20% readmission rate - Moderate complexity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6921500" y="5232400"/>
            <a:ext cx="50292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27% readmission rate - High complexity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6667500" y="6515100"/>
            <a:ext cx="4724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000000"/>
                </a:solidFill>
                <a:latin typeface="Poppins"/>
              </a:rPr>
              <a:t>35% readmission rate - Very high risk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6083300" y="7425177"/>
            <a:ext cx="92837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b="1" dirty="0">
                <a:solidFill>
                  <a:srgbClr val="000000"/>
                </a:solidFill>
                <a:latin typeface="Poppins"/>
              </a:rPr>
              <a:t>Key Insight: Patients on complex medication regimens (16+ drugs) have more than double the readmission risk compared to those on simpler regimens. This indicates higher disease severity and potential medication adherence challenges.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21514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" y="1865453"/>
            <a:ext cx="9283700" cy="544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981200"/>
            <a:ext cx="78613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1968500"/>
            <a:ext cx="927100" cy="1016000"/>
          </a:xfrm>
          <a:prstGeom prst="roundRect">
            <a:avLst>
              <a:gd name="adj" fmla="val 9589"/>
            </a:avLst>
          </a:prstGeom>
          <a:solidFill>
            <a:srgbClr val="86BEB3"/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930400" y="2997200"/>
            <a:ext cx="81026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3073400"/>
            <a:ext cx="77089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00021" y="3086100"/>
            <a:ext cx="1854200" cy="1016000"/>
          </a:xfrm>
          <a:prstGeom prst="roundRect">
            <a:avLst>
              <a:gd name="adj" fmla="val 8750"/>
            </a:avLst>
          </a:prstGeom>
          <a:solidFill>
            <a:srgbClr val="86BEB3"/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2857500" y="4102100"/>
            <a:ext cx="71755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4191000"/>
            <a:ext cx="92837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700021" y="4238263"/>
            <a:ext cx="2781300" cy="1016000"/>
          </a:xfrm>
          <a:prstGeom prst="roundRect">
            <a:avLst>
              <a:gd name="adj" fmla="val 8750"/>
            </a:avLst>
          </a:prstGeom>
          <a:solidFill>
            <a:srgbClr val="86BEB3"/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3784600" y="5207000"/>
            <a:ext cx="62484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6300" y="5295900"/>
            <a:ext cx="92837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676302" y="5320094"/>
            <a:ext cx="3708400" cy="1016000"/>
          </a:xfrm>
          <a:prstGeom prst="roundRect">
            <a:avLst>
              <a:gd name="adj" fmla="val 8750"/>
            </a:avLst>
          </a:prstGeom>
          <a:solidFill>
            <a:srgbClr val="86BEB3"/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4711700" y="6311900"/>
            <a:ext cx="53213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76300" y="6400800"/>
            <a:ext cx="92837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609600" y="6375400"/>
            <a:ext cx="4635500" cy="1016000"/>
          </a:xfrm>
          <a:prstGeom prst="roundRect">
            <a:avLst>
              <a:gd name="adj" fmla="val 8750"/>
            </a:avLst>
          </a:prstGeom>
          <a:solidFill>
            <a:srgbClr val="86BEB3"/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5651500" y="7429500"/>
            <a:ext cx="4381500" cy="12700"/>
          </a:xfrm>
          <a:prstGeom prst="rect">
            <a:avLst/>
          </a:prstGeom>
          <a:solidFill>
            <a:srgbClr val="366962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876300" y="7543800"/>
            <a:ext cx="92837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412750" y="7543800"/>
            <a:ext cx="9283700" cy="1117600"/>
          </a:xfrm>
          <a:prstGeom prst="roundRect">
            <a:avLst>
              <a:gd name="adj" fmla="val 7954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876300" y="457200"/>
            <a:ext cx="92837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08493C"/>
                </a:solidFill>
                <a:latin typeface="Agbalumo"/>
              </a:rPr>
              <a:t>Previous Admissions - Strongest Predictor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6300" y="1473200"/>
            <a:ext cx="9283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Healthcare Utilization History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57300" y="2349500"/>
            <a:ext cx="30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1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2057400" y="2146300"/>
            <a:ext cx="39243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No Prior Admissions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714500" y="3467100"/>
            <a:ext cx="30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2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2984500" y="3251200"/>
            <a:ext cx="41402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1 Prior Admission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2184400" y="4572000"/>
            <a:ext cx="30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3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3911600" y="4356100"/>
            <a:ext cx="3517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2 Prior Admissions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2654300" y="5676900"/>
            <a:ext cx="30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4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4838700" y="5461000"/>
            <a:ext cx="41529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3 Prior Admissions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3111500" y="6781800"/>
            <a:ext cx="3048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600" b="1">
                <a:solidFill>
                  <a:srgbClr val="08493C"/>
                </a:solidFill>
                <a:highlight>
                  <a:srgbClr val="000000">
                    <a:alpha val="0"/>
                  </a:srgbClr>
                </a:highlight>
                <a:latin typeface="Agbalumo"/>
              </a:rPr>
              <a:t>5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5778500" y="6578600"/>
            <a:ext cx="38481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08493C"/>
                </a:solidFill>
                <a:latin typeface="Agbalumo"/>
              </a:rPr>
              <a:t>4+ Prior Admissions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2057400" y="2565400"/>
            <a:ext cx="39243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12% readmission - Baseline risk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2984500" y="3670300"/>
            <a:ext cx="41402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22% readmission - Moderate risk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3911600" y="4787900"/>
            <a:ext cx="35179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 dirty="0">
                <a:solidFill>
                  <a:srgbClr val="000000"/>
                </a:solidFill>
                <a:latin typeface="Poppins"/>
              </a:rPr>
              <a:t>35% readmission - High risk</a:t>
            </a:r>
            <a:endParaRPr lang="en-US" sz="1100" dirty="0"/>
          </a:p>
        </p:txBody>
      </p:sp>
      <p:sp>
        <p:nvSpPr>
          <p:cNvPr id="38" name="TextBox 38"/>
          <p:cNvSpPr txBox="1"/>
          <p:nvPr/>
        </p:nvSpPr>
        <p:spPr>
          <a:xfrm>
            <a:off x="4838700" y="5892800"/>
            <a:ext cx="41529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48% readmission - Very high risk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5778500" y="6997700"/>
            <a:ext cx="38481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00000"/>
                </a:solidFill>
                <a:latin typeface="Poppins"/>
              </a:rPr>
              <a:t>60% readmission - Critical risk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143000" y="7721600"/>
            <a:ext cx="87630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b="1" dirty="0">
                <a:solidFill>
                  <a:srgbClr val="000000"/>
                </a:solidFill>
                <a:latin typeface="Poppins"/>
              </a:rPr>
              <a:t>Number of previous inpatient visits is the #1 predictor in our model - patients with frequent admissions need intensive case management</a:t>
            </a:r>
            <a:endParaRPr lang="en-US" dirty="0"/>
          </a:p>
        </p:txBody>
      </p:sp>
      <p:pic>
        <p:nvPicPr>
          <p:cNvPr id="45" name="Picture 44" descr="plot_4.png">
            <a:extLst>
              <a:ext uri="{FF2B5EF4-FFF2-40B4-BE49-F238E27FC236}">
                <a16:creationId xmlns:a16="http://schemas.microsoft.com/office/drawing/2014/main" id="{6FB7DD9C-C6B7-FCC9-31D8-83EF73C84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1" y="279401"/>
            <a:ext cx="6117514" cy="71373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5854700" y="1962150"/>
            <a:ext cx="3340100" cy="694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384300" y="4476750"/>
            <a:ext cx="3340100" cy="3251200"/>
          </a:xfrm>
          <a:prstGeom prst="roundRect">
            <a:avLst>
              <a:gd name="adj" fmla="val 2734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2969469" y="4724400"/>
            <a:ext cx="520700" cy="520700"/>
          </a:xfrm>
          <a:prstGeom prst="roundRect">
            <a:avLst>
              <a:gd name="adj" fmla="val 48780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6309569" y="4343400"/>
            <a:ext cx="3340100" cy="3517900"/>
          </a:xfrm>
          <a:prstGeom prst="roundRect">
            <a:avLst>
              <a:gd name="adj" fmla="val 2661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766050" y="4506797"/>
            <a:ext cx="520700" cy="520700"/>
          </a:xfrm>
          <a:prstGeom prst="roundRect">
            <a:avLst>
              <a:gd name="adj" fmla="val 0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6300" y="4699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08493C"/>
                </a:solidFill>
                <a:latin typeface="Agbalumo"/>
              </a:rPr>
              <a:t>Top Risk Factors - Feature Importance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492250" y="5270500"/>
            <a:ext cx="28194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b="1" dirty="0">
                <a:solidFill>
                  <a:srgbClr val="08493C"/>
                </a:solidFill>
                <a:latin typeface="Agbalumo"/>
              </a:rPr>
              <a:t>Healthcare Utilization</a:t>
            </a:r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6597650" y="4960797"/>
            <a:ext cx="28194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b="1" dirty="0">
                <a:solidFill>
                  <a:srgbClr val="08493C"/>
                </a:solidFill>
                <a:latin typeface="Agbalumo"/>
              </a:rPr>
              <a:t>Treatment Complexity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1574801" y="5791200"/>
            <a:ext cx="2971800" cy="167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Previous inpatient and emergency visits dominate the model - frequent users of hospital services are at highest risk.</a:t>
            </a:r>
            <a:endParaRPr lang="en-US" sz="1600" dirty="0"/>
          </a:p>
        </p:txBody>
      </p:sp>
      <p:sp>
        <p:nvSpPr>
          <p:cNvPr id="15" name="TextBox 15"/>
          <p:cNvSpPr txBox="1"/>
          <p:nvPr/>
        </p:nvSpPr>
        <p:spPr>
          <a:xfrm>
            <a:off x="6759535" y="5530850"/>
            <a:ext cx="2819400" cy="181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000000"/>
                </a:solidFill>
                <a:latin typeface="Poppins"/>
              </a:rPr>
              <a:t>Number of medications and lab procedures reflect disease severity and management difficulty - key predictors.</a:t>
            </a:r>
            <a:endParaRPr lang="en-US" sz="1600" dirty="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t="23000" b="23000"/>
          <a:stretch>
            <a:fillRect/>
          </a:stretch>
        </p:blipFill>
        <p:spPr>
          <a:xfrm>
            <a:off x="3077419" y="4960797"/>
            <a:ext cx="304800" cy="165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rcRect t="21000" b="21000"/>
          <a:stretch>
            <a:fillRect/>
          </a:stretch>
        </p:blipFill>
        <p:spPr>
          <a:xfrm>
            <a:off x="7839919" y="4674526"/>
            <a:ext cx="279400" cy="165100"/>
          </a:xfrm>
          <a:prstGeom prst="rect">
            <a:avLst/>
          </a:prstGeom>
        </p:spPr>
      </p:pic>
      <p:pic>
        <p:nvPicPr>
          <p:cNvPr id="19" name="Picture 18" descr="plot_9.png">
            <a:extLst>
              <a:ext uri="{FF2B5EF4-FFF2-40B4-BE49-F238E27FC236}">
                <a16:creationId xmlns:a16="http://schemas.microsoft.com/office/drawing/2014/main" id="{19F27647-7FE1-F24D-7E07-0EAEA913C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505" y="1517650"/>
            <a:ext cx="10969906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778000"/>
            <a:ext cx="9283700" cy="681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083300" y="1778000"/>
            <a:ext cx="2921000" cy="4381500"/>
          </a:xfrm>
          <a:prstGeom prst="roundRect">
            <a:avLst>
              <a:gd name="adj" fmla="val 3478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426200" y="1981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9258300" y="1778000"/>
            <a:ext cx="2921000" cy="4381500"/>
          </a:xfrm>
          <a:prstGeom prst="roundRect">
            <a:avLst>
              <a:gd name="adj" fmla="val 3478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9613900" y="1981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2433300" y="1778000"/>
            <a:ext cx="2921000" cy="4381500"/>
          </a:xfrm>
          <a:prstGeom prst="roundRect">
            <a:avLst>
              <a:gd name="adj" fmla="val 3478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2788900" y="19812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083300" y="6362700"/>
            <a:ext cx="9283700" cy="2235200"/>
          </a:xfrm>
          <a:prstGeom prst="roundRect">
            <a:avLst>
              <a:gd name="adj" fmla="val 4545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6426200" y="6565900"/>
            <a:ext cx="571500" cy="571500"/>
          </a:xfrm>
          <a:prstGeom prst="roundRect">
            <a:avLst>
              <a:gd name="adj" fmla="val 48888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083300" y="520700"/>
            <a:ext cx="9283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000" b="1">
                <a:solidFill>
                  <a:srgbClr val="08493C"/>
                </a:solidFill>
                <a:latin typeface="Agbalumo"/>
              </a:rPr>
              <a:t>Clinical Impact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083300" y="1206500"/>
            <a:ext cx="9283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Improving Patient Outcomes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337300" y="2755900"/>
            <a:ext cx="24003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Early Intervention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525000" y="2755900"/>
            <a:ext cx="24003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Personalized Care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2700000" y="2755900"/>
            <a:ext cx="24003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Enhanced Discharge Planning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37300" y="7340600"/>
            <a:ext cx="87630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Remote Monitoring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337300" y="3581400"/>
            <a:ext cx="2400300" cy="203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Identify high-risk patients before discharge and implement targeted care plans to prevent readmission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9525000" y="3581400"/>
            <a:ext cx="2400300" cy="203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Tailor treatment intensity, follow-up frequency, and support services based on individual risk levels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2700000" y="3937000"/>
            <a:ext cx="2400300" cy="203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Arrange home health visits, medication reviews, and patient education for those most likely to struggle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337300" y="7823200"/>
            <a:ext cx="87630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000000"/>
                </a:solidFill>
                <a:latin typeface="Poppins"/>
              </a:rPr>
              <a:t>Deploy telemonitoring and frequent check-ins for highest-risk patients to catch problems early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 t="19000" b="19000"/>
          <a:stretch>
            <a:fillRect/>
          </a:stretch>
        </p:blipFill>
        <p:spPr>
          <a:xfrm>
            <a:off x="6565900" y="2171700"/>
            <a:ext cx="304800" cy="190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9766300" y="2171700"/>
            <a:ext cx="241300" cy="19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 t="16000" b="16000"/>
          <a:stretch>
            <a:fillRect/>
          </a:stretch>
        </p:blipFill>
        <p:spPr>
          <a:xfrm>
            <a:off x="12941300" y="2171700"/>
            <a:ext cx="279400" cy="1905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 t="16000" b="16000"/>
          <a:stretch>
            <a:fillRect/>
          </a:stretch>
        </p:blipFill>
        <p:spPr>
          <a:xfrm>
            <a:off x="6578600" y="6756400"/>
            <a:ext cx="279400" cy="19050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EE5B8D72-21E0-5D2B-FFD5-6596146E2E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00" b="1000"/>
          <a:stretch>
            <a:fillRect/>
          </a:stretch>
        </p:blipFill>
        <p:spPr>
          <a:xfrm>
            <a:off x="60446" y="0"/>
            <a:ext cx="5194300" cy="9144000"/>
          </a:xfrm>
          <a:prstGeom prst="roundRect">
            <a:avLst>
              <a:gd name="adj" fmla="val 3911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76300" y="2070100"/>
            <a:ext cx="9283700" cy="525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2070100"/>
            <a:ext cx="2921000" cy="5257800"/>
          </a:xfrm>
          <a:prstGeom prst="roundRect">
            <a:avLst>
              <a:gd name="adj" fmla="val 4347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1181100" y="23114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051300" y="2070100"/>
            <a:ext cx="2921000" cy="5257800"/>
          </a:xfrm>
          <a:prstGeom prst="roundRect">
            <a:avLst>
              <a:gd name="adj" fmla="val 4347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4356100" y="23114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7239000" y="2070100"/>
            <a:ext cx="2921000" cy="5257800"/>
          </a:xfrm>
          <a:prstGeom prst="roundRect">
            <a:avLst>
              <a:gd name="adj" fmla="val 4347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7543800" y="23114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7581900"/>
            <a:ext cx="12700" cy="673100"/>
          </a:xfrm>
          <a:prstGeom prst="rect">
            <a:avLst/>
          </a:prstGeom>
          <a:solidFill>
            <a:srgbClr val="126149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76300" y="609600"/>
            <a:ext cx="9283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00" b="1">
                <a:solidFill>
                  <a:srgbClr val="08493C"/>
                </a:solidFill>
                <a:latin typeface="Agbalumo"/>
              </a:rPr>
              <a:t>Operational Impact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1409700"/>
            <a:ext cx="9283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08493C"/>
                </a:solidFill>
                <a:latin typeface="Agbalumo"/>
              </a:rPr>
              <a:t>Resource Optimization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32131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Efficient Case Management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318000" y="32131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Capacity Planning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493000" y="3213100"/>
            <a:ext cx="24003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Cost Reduction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4051300"/>
            <a:ext cx="2400300" cy="304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Allocate specialized case managers and resources to patients who need them most, rather than spreading thin across all patients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318000" y="4051300"/>
            <a:ext cx="2400300" cy="304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Predict bed demand more accurately by forecasting readmissions, enabling better staffing and resource allocation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7493000" y="3708400"/>
            <a:ext cx="2400300" cy="304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Prevent unnecessary readmissions saving an estimated 15-25% of readmission costs through targeted interventions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7581900"/>
            <a:ext cx="9029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For a 500-bed hospital, preventing just 10% of readmissions could save $500,000-$1M annually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t="15000" b="15000"/>
          <a:stretch>
            <a:fillRect/>
          </a:stretch>
        </p:blipFill>
        <p:spPr>
          <a:xfrm>
            <a:off x="1358900" y="2527300"/>
            <a:ext cx="304800" cy="215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rcRect t="15000" b="15000"/>
          <a:stretch>
            <a:fillRect/>
          </a:stretch>
        </p:blipFill>
        <p:spPr>
          <a:xfrm>
            <a:off x="4533900" y="2527300"/>
            <a:ext cx="3048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rcRect t="12000" b="12000"/>
          <a:stretch>
            <a:fillRect/>
          </a:stretch>
        </p:blipFill>
        <p:spPr>
          <a:xfrm>
            <a:off x="7734300" y="2527300"/>
            <a:ext cx="2794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3F34-DABD-B828-8E8B-60B645B9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304516"/>
            <a:ext cx="12193057" cy="1143000"/>
          </a:xfrm>
        </p:spPr>
        <p:txBody>
          <a:bodyPr>
            <a:normAutofit/>
          </a:bodyPr>
          <a:lstStyle/>
          <a:p>
            <a:r>
              <a:rPr lang="en-US" b="1" dirty="0"/>
              <a:t>Performance of Diabetes risk prediction model.</a:t>
            </a:r>
            <a:endParaRPr lang="en-KE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FE505A-F46C-704C-8155-36A5FAB95E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9871" y="1714216"/>
            <a:ext cx="12193057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28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6083300" y="1409700"/>
            <a:ext cx="9283700" cy="204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6083300" y="1409700"/>
            <a:ext cx="9283700" cy="2044700"/>
          </a:xfrm>
          <a:prstGeom prst="roundRect">
            <a:avLst>
              <a:gd name="adj" fmla="val 5590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6083300" y="3606800"/>
            <a:ext cx="9283700" cy="490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83300" y="3606800"/>
            <a:ext cx="2921000" cy="4902200"/>
          </a:xfrm>
          <a:prstGeom prst="roundRect">
            <a:avLst>
              <a:gd name="adj" fmla="val 3913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7200900" y="38481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9258300" y="3606800"/>
            <a:ext cx="2921000" cy="4902200"/>
          </a:xfrm>
          <a:prstGeom prst="roundRect">
            <a:avLst>
              <a:gd name="adj" fmla="val 3913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0388600" y="38481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433300" y="3606800"/>
            <a:ext cx="2921000" cy="4902200"/>
          </a:xfrm>
          <a:prstGeom prst="roundRect">
            <a:avLst>
              <a:gd name="adj" fmla="val 3913"/>
            </a:avLst>
          </a:prstGeom>
          <a:solidFill>
            <a:srgbClr val="86BEB3">
              <a:alpha val="78824"/>
            </a:srgbClr>
          </a:solidFill>
          <a:ln w="12700">
            <a:solidFill>
              <a:srgbClr val="36696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3563600" y="3848100"/>
            <a:ext cx="673100" cy="673100"/>
          </a:xfrm>
          <a:prstGeom prst="roundRect">
            <a:avLst>
              <a:gd name="adj" fmla="val 49056"/>
            </a:avLst>
          </a:prstGeom>
          <a:solidFill>
            <a:srgbClr val="0F493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083300" y="609600"/>
            <a:ext cx="9283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00" b="1">
                <a:solidFill>
                  <a:srgbClr val="08493C"/>
                </a:solidFill>
                <a:latin typeface="Agbalumo"/>
              </a:rPr>
              <a:t>Implementation Roadmap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337300" y="1638300"/>
            <a:ext cx="87630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>
                <a:solidFill>
                  <a:srgbClr val="08493C"/>
                </a:solidFill>
                <a:latin typeface="Agbalumo"/>
              </a:rPr>
              <a:t>Path Forward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337300" y="47498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System Integration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9525000" y="47498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Clinician Training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2700000" y="4749800"/>
            <a:ext cx="24003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08493C"/>
                </a:solidFill>
                <a:latin typeface="Agbalumo"/>
              </a:rPr>
              <a:t>Monitor &amp; Refine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337300" y="2209800"/>
            <a:ext cx="87630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Successful deployment requires collaboration between data science teams, clinicians, and hospital administrators to integrate predictions into existing workflows.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337300" y="5575300"/>
            <a:ext cx="2400300" cy="2362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Integrate model into electronic health records so risk scores appear automatically at discharge planning.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9525000" y="5575300"/>
            <a:ext cx="2400300" cy="269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Train healthcare providers on interpreting risk scores and implementing appropriate interventions for flagged patients.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2700000" y="5575300"/>
            <a:ext cx="2400300" cy="201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00000"/>
                </a:solidFill>
                <a:latin typeface="Poppins"/>
              </a:rPr>
              <a:t>Continuously track outcomes and retrain model with new data to improve accuracy over time.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7378700" y="4076700"/>
            <a:ext cx="304800" cy="215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17200" y="4076700"/>
            <a:ext cx="215900" cy="2159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rcRect t="12000" b="12000"/>
          <a:stretch>
            <a:fillRect/>
          </a:stretch>
        </p:blipFill>
        <p:spPr>
          <a:xfrm>
            <a:off x="13766800" y="4076700"/>
            <a:ext cx="279400" cy="215900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F29DE0F1-1EA3-5D08-9FBA-BCCCE6DC85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00" r="1000"/>
          <a:stretch>
            <a:fillRect/>
          </a:stretch>
        </p:blipFill>
        <p:spPr>
          <a:xfrm>
            <a:off x="450850" y="-13504"/>
            <a:ext cx="5194300" cy="9144000"/>
          </a:xfrm>
          <a:prstGeom prst="roundRect">
            <a:avLst>
              <a:gd name="adj" fmla="val 4156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1000" b="100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2638"/>
            </a:avLst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oundRect">
            <a:avLst>
              <a:gd name="adj" fmla="val 2638"/>
            </a:avLst>
          </a:prstGeom>
          <a:solidFill>
            <a:srgbClr val="73B4A2">
              <a:alpha val="6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3670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 dirty="0">
                <a:latin typeface="Agbalumo"/>
              </a:rPr>
              <a:t>Thank You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876300" y="4724401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b="1" dirty="0">
                <a:latin typeface="Agbalumo"/>
              </a:rPr>
              <a:t>Questions and Discussion - We welcome your feedback and insights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</TotalTime>
  <Words>1112</Words>
  <Application>Microsoft Office PowerPoint</Application>
  <PresentationFormat>Custom</PresentationFormat>
  <Paragraphs>158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Agbalumo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of Diabetes risk prediction model.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Terry Aloo</dc:creator>
  <cp:lastModifiedBy>Elsie Wairimu</cp:lastModifiedBy>
  <cp:revision>6</cp:revision>
  <dcterms:created xsi:type="dcterms:W3CDTF">2006-08-16T00:00:00Z</dcterms:created>
  <dcterms:modified xsi:type="dcterms:W3CDTF">2026-01-22T17:05:22Z</dcterms:modified>
</cp:coreProperties>
</file>